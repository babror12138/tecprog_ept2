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6cc00e9c8b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" name="Google Shape;29;g6cc00e9c8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h2a96e6f1e8a5a91b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" name="Google Shape;35;h2a96e6f1e8a5a91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h130c3aa67f7e16f0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h130c3aa67f7e16f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h130c3aa67f7e16f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h130c3aa67f7e16f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h2a96e6f1e8a5a91b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h2a96e6f1e8a5a91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h130c3aa67f7e16f0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h130c3aa67f7e16f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h2a96e6f1e8a5a91b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h2a96e6f1e8a5a91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h7deb474a32b9a8a7_2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h7deb474a32b9a8a7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h2a96e6f1e8a5a91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h2a96e6f1e8a5a91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h7deb474a32b9a8a7_2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h7deb474a32b9a8a7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h20f3b311fcd80fd0_1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h20f3b311fcd80fd0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h20f3b311fcd80fd0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h20f3b311fcd80fd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h20f3b311fcd80fd0_1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h20f3b311fcd80fd0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h20f3b311fcd80fd0_1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h20f3b311fcd80fd0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769c4bd5c2d2751a_16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h769c4bd5c2d2751a_16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hdabcd40a1e27d06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hdabcd40a1e27d0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540000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93C78"/>
              </a:buClr>
              <a:buSzPts val="1800"/>
              <a:buNone/>
              <a:defRPr>
                <a:solidFill>
                  <a:srgbClr val="293C7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B8F"/>
              </a:buClr>
              <a:buSzPts val="3200"/>
              <a:buNone/>
              <a:defRPr>
                <a:solidFill>
                  <a:srgbClr val="888B8F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B8F"/>
              </a:buClr>
              <a:buSzPts val="2800"/>
              <a:buNone/>
              <a:defRPr>
                <a:solidFill>
                  <a:srgbClr val="888B8F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B8F"/>
              </a:buClr>
              <a:buSzPts val="2400"/>
              <a:buNone/>
              <a:defRPr>
                <a:solidFill>
                  <a:srgbClr val="888B8F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B8F"/>
              </a:buClr>
              <a:buSzPts val="2000"/>
              <a:buNone/>
              <a:defRPr>
                <a:solidFill>
                  <a:srgbClr val="888B8F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B8F"/>
              </a:buClr>
              <a:buSzPts val="2000"/>
              <a:buNone/>
              <a:defRPr>
                <a:solidFill>
                  <a:srgbClr val="888B8F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B8F"/>
              </a:buClr>
              <a:buSzPts val="2000"/>
              <a:buNone/>
              <a:defRPr>
                <a:solidFill>
                  <a:srgbClr val="888B8F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B8F"/>
              </a:buClr>
              <a:buSzPts val="2000"/>
              <a:buNone/>
              <a:defRPr>
                <a:solidFill>
                  <a:srgbClr val="888B8F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B8F"/>
              </a:buClr>
              <a:buSzPts val="2000"/>
              <a:buNone/>
              <a:defRPr>
                <a:solidFill>
                  <a:srgbClr val="888B8F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B8F"/>
              </a:buClr>
              <a:buSzPts val="2000"/>
              <a:buNone/>
              <a:defRPr>
                <a:solidFill>
                  <a:srgbClr val="888B8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83225"/>
            <a:ext cx="82296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93C78"/>
              </a:buClr>
              <a:buSzPts val="3000"/>
              <a:buNone/>
              <a:defRPr sz="3000">
                <a:solidFill>
                  <a:srgbClr val="293C7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7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7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7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7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7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7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7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700"/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457200" y="750216"/>
            <a:ext cx="8229600" cy="18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505150"/>
              </a:buClr>
              <a:buSzPts val="1800"/>
              <a:buChar char="●"/>
              <a:defRPr sz="1800"/>
            </a:lvl1pPr>
            <a:lvl2pPr indent="-342900" lvl="1" marL="9144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505150"/>
              </a:buClr>
              <a:buSzPts val="1800"/>
              <a:buChar char="○"/>
              <a:defRPr sz="1800"/>
            </a:lvl2pPr>
            <a:lvl3pPr indent="-342900" lvl="2" marL="1371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505150"/>
              </a:buClr>
              <a:buSzPts val="1800"/>
              <a:buChar char="■"/>
              <a:defRPr sz="1800"/>
            </a:lvl3pPr>
            <a:lvl4pPr indent="-342900" lvl="3" marL="1828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505150"/>
              </a:buClr>
              <a:buSzPts val="1800"/>
              <a:buChar char="●"/>
              <a:defRPr sz="1800"/>
            </a:lvl4pPr>
            <a:lvl5pPr indent="-368300" lvl="4" marL="22860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505150"/>
              </a:buClr>
              <a:buSzPts val="2200"/>
              <a:buChar char="○"/>
              <a:defRPr sz="1800"/>
            </a:lvl5pPr>
            <a:lvl6pPr indent="-368300" lvl="5" marL="27432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1800"/>
            </a:lvl6pPr>
            <a:lvl7pPr indent="-368300" lvl="6" marL="32004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 sz="1800"/>
            </a:lvl7pPr>
            <a:lvl8pPr indent="-368300" lvl="7" marL="3657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1800"/>
            </a:lvl8pPr>
            <a:lvl9pPr indent="-368300" lvl="8" marL="4114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457200" y="36000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93C78"/>
              </a:buClr>
              <a:buSzPts val="1800"/>
              <a:buNone/>
              <a:defRPr>
                <a:solidFill>
                  <a:srgbClr val="293C7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 rot="5400000">
            <a:off x="3624063" y="-1113698"/>
            <a:ext cx="189587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505150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rgbClr val="505150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505150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505150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505150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1073816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293C78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293C7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cxnSp>
        <p:nvCxnSpPr>
          <p:cNvPr id="7" name="Google Shape;7;p1"/>
          <p:cNvCxnSpPr/>
          <p:nvPr/>
        </p:nvCxnSpPr>
        <p:spPr>
          <a:xfrm rot="10800000">
            <a:off x="906033" y="4891800"/>
            <a:ext cx="7435200" cy="5400"/>
          </a:xfrm>
          <a:prstGeom prst="straightConnector1">
            <a:avLst/>
          </a:prstGeom>
          <a:noFill/>
          <a:ln cap="flat" cmpd="sng" w="9525">
            <a:solidFill>
              <a:srgbClr val="293C7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" name="Google Shape;8;p1"/>
          <p:cNvPicPr preferRelativeResize="0"/>
          <p:nvPr/>
        </p:nvPicPr>
        <p:blipFill rotWithShape="1">
          <a:blip r:embed="rId1">
            <a:alphaModFix/>
          </a:blip>
          <a:srcRect b="0" l="0" r="55237" t="0"/>
          <a:stretch/>
        </p:blipFill>
        <p:spPr>
          <a:xfrm>
            <a:off x="93375" y="4824000"/>
            <a:ext cx="736458" cy="28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47973" y="4860000"/>
            <a:ext cx="634200" cy="25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/>
          <p:nvPr/>
        </p:nvSpPr>
        <p:spPr>
          <a:xfrm>
            <a:off x="2666700" y="4942925"/>
            <a:ext cx="3810600" cy="1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293C78"/>
                </a:solidFill>
              </a:rPr>
              <a:t>Trabalho Prático 2 - MAC0216 - Técnicas de Programação I</a:t>
            </a:r>
            <a:endParaRPr sz="1000">
              <a:solidFill>
                <a:srgbClr val="293C78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</p:sldLayoutIdLst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www.langfordmath.com/ECEMath/Geometry/Polygons.jpg" TargetMode="External"/><Relationship Id="rId4" Type="http://schemas.openxmlformats.org/officeDocument/2006/relationships/hyperlink" Target="http://www.geeksforgeeks.org/dsa/convex-hull-using-jarvis-algorithm-or-wrapping" TargetMode="External"/><Relationship Id="rId5" Type="http://schemas.openxmlformats.org/officeDocument/2006/relationships/hyperlink" Target="https://www.dinocajic.com/grahams-scan-visually-explained" TargetMode="External"/><Relationship Id="rId6" Type="http://schemas.openxmlformats.org/officeDocument/2006/relationships/hyperlink" Target="https://en.wikipedia.org/wiki/Closest_pair_of_points_problem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ctrTitle"/>
          </p:nvPr>
        </p:nvSpPr>
        <p:spPr>
          <a:xfrm rot="-338">
            <a:off x="0" y="669361"/>
            <a:ext cx="91440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26A8A"/>
              </a:buClr>
              <a:buSzPts val="4400"/>
              <a:buFont typeface="Arial"/>
              <a:buNone/>
            </a:pPr>
            <a:r>
              <a:rPr lang="pt-BR"/>
              <a:t>	Desenvolvimento da biblioteca de Geometria em C</a:t>
            </a:r>
            <a:endParaRPr sz="3600">
              <a:solidFill>
                <a:srgbClr val="293C78"/>
              </a:solidFill>
            </a:endParaRPr>
          </a:p>
        </p:txBody>
      </p:sp>
      <p:sp>
        <p:nvSpPr>
          <p:cNvPr id="26" name="Google Shape;26;p6"/>
          <p:cNvSpPr txBox="1"/>
          <p:nvPr>
            <p:ph idx="1" type="subTitle"/>
          </p:nvPr>
        </p:nvSpPr>
        <p:spPr>
          <a:xfrm>
            <a:off x="1371600" y="2305050"/>
            <a:ext cx="6400800" cy="13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B8F"/>
              </a:buClr>
              <a:buSzPts val="3200"/>
              <a:buNone/>
            </a:pPr>
            <a:r>
              <a:rPr lang="pt-BR"/>
              <a:t>Davi Mendonça </a:t>
            </a:r>
            <a:r>
              <a:rPr lang="pt-BR"/>
              <a:t>· Leandro Takara · Marcelo Zhang · Marcos </a:t>
            </a:r>
            <a:r>
              <a:rPr lang="pt-BR"/>
              <a:t>Akira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B8F"/>
              </a:buClr>
              <a:buSzPts val="32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B8F"/>
              </a:buClr>
              <a:buSzPts val="32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B8F"/>
              </a:buClr>
              <a:buSzPts val="3200"/>
              <a:buNone/>
            </a:pPr>
            <a:r>
              <a:rPr lang="pt-BR"/>
              <a:t>Ciência da Computação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B8F"/>
              </a:buClr>
              <a:buSzPts val="3200"/>
              <a:buNone/>
            </a:pPr>
            <a:r>
              <a:rPr lang="pt-BR"/>
              <a:t>Instituto de Matemática e Estatística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B8F"/>
              </a:buClr>
              <a:buSzPts val="3200"/>
              <a:buNone/>
            </a:pPr>
            <a:r>
              <a:rPr lang="pt-BR"/>
              <a:t>Universidade de São Paulo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B8F"/>
              </a:buClr>
              <a:buSzPts val="32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B8F"/>
              </a:buClr>
              <a:buSzPts val="32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B8F"/>
              </a:buClr>
              <a:buSzPts val="3200"/>
              <a:buNone/>
            </a:pPr>
            <a:r>
              <a:rPr lang="pt-BR"/>
              <a:t>Outubro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457200" y="83225"/>
            <a:ext cx="8229600" cy="51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Introdução</a:t>
            </a:r>
            <a:endParaRPr/>
          </a:p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457200" y="750235"/>
            <a:ext cx="8229600" cy="39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Dom</a:t>
            </a:r>
            <a:r>
              <a:rPr lang="pt-BR"/>
              <a:t>ínio: Geometria Computacional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Problemas como: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/>
              <a:t>Cálculo de distâncias e interseções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/>
              <a:t>Operações com polígonos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/>
              <a:t>Cálculo de fechos convexos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/>
              <a:t>Proximidade e interseção entre objetos geométricos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Projeto: centralizar essas operações em uma biblioteca modular em C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57200" y="83225"/>
            <a:ext cx="8229600" cy="51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Estrutura do Projeto</a:t>
            </a:r>
            <a:endParaRPr/>
          </a:p>
        </p:txBody>
      </p:sp>
      <p:sp>
        <p:nvSpPr>
          <p:cNvPr id="38" name="Google Shape;38;p8"/>
          <p:cNvSpPr txBox="1"/>
          <p:nvPr>
            <p:ph idx="1" type="body"/>
          </p:nvPr>
        </p:nvSpPr>
        <p:spPr>
          <a:xfrm>
            <a:off x="457200" y="750233"/>
            <a:ext cx="8229600" cy="3627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/>
              <a:t>Geometria</a:t>
            </a:r>
            <a:r>
              <a:rPr lang="pt-BR"/>
              <a:t>/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/>
              <a:t>├── app/ : aplicação cliente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/>
              <a:t>├── include/ : interface pública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/>
              <a:t>├── src/ : implementação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/>
              <a:t>├── tests/ : testes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/>
              <a:t>├── bin/ : armazena os executáveis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/>
              <a:t>├── build/ : arquivos intermediários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/>
              <a:t>├── lib/ : bibliotecas finais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/>
              <a:t>├── Makefile : compilação, testes, aplicação e instalação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pt-BR"/>
              <a:t>└── README.md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/>
          <p:nvPr>
            <p:ph type="title"/>
          </p:nvPr>
        </p:nvSpPr>
        <p:spPr>
          <a:xfrm>
            <a:off x="457200" y="83225"/>
            <a:ext cx="8229600" cy="51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Divisão dos m</a:t>
            </a:r>
            <a:r>
              <a:rPr lang="pt-BR"/>
              <a:t>ódulos e dependências</a:t>
            </a:r>
            <a:endParaRPr/>
          </a:p>
        </p:txBody>
      </p:sp>
      <p:sp>
        <p:nvSpPr>
          <p:cNvPr id="44" name="Google Shape;44;p9"/>
          <p:cNvSpPr/>
          <p:nvPr/>
        </p:nvSpPr>
        <p:spPr>
          <a:xfrm>
            <a:off x="1745875" y="925425"/>
            <a:ext cx="5212800" cy="477900"/>
          </a:xfrm>
          <a:prstGeom prst="roundRect">
            <a:avLst>
              <a:gd fmla="val 16667" name="adj"/>
            </a:avLst>
          </a:prstGeom>
          <a:solidFill>
            <a:srgbClr val="D2DD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</a:t>
            </a:r>
            <a:r>
              <a:rPr lang="pt-BR"/>
              <a:t>eneral</a:t>
            </a:r>
            <a:endParaRPr/>
          </a:p>
        </p:txBody>
      </p:sp>
      <p:sp>
        <p:nvSpPr>
          <p:cNvPr id="45" name="Google Shape;45;p9"/>
          <p:cNvSpPr/>
          <p:nvPr/>
        </p:nvSpPr>
        <p:spPr>
          <a:xfrm>
            <a:off x="1745675" y="3740175"/>
            <a:ext cx="2473500" cy="477900"/>
          </a:xfrm>
          <a:prstGeom prst="roundRect">
            <a:avLst>
              <a:gd fmla="val 16667" name="adj"/>
            </a:avLst>
          </a:prstGeom>
          <a:solidFill>
            <a:srgbClr val="D2DD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convex_hull</a:t>
            </a:r>
            <a:endParaRPr/>
          </a:p>
        </p:txBody>
      </p:sp>
      <p:sp>
        <p:nvSpPr>
          <p:cNvPr id="46" name="Google Shape;46;p9"/>
          <p:cNvSpPr/>
          <p:nvPr/>
        </p:nvSpPr>
        <p:spPr>
          <a:xfrm>
            <a:off x="4485075" y="3740175"/>
            <a:ext cx="2473500" cy="477900"/>
          </a:xfrm>
          <a:prstGeom prst="roundRect">
            <a:avLst>
              <a:gd fmla="val 16667" name="adj"/>
            </a:avLst>
          </a:prstGeom>
          <a:solidFill>
            <a:srgbClr val="D2DD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spatial</a:t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>
            <a:off x="1745725" y="1863675"/>
            <a:ext cx="5212800" cy="477900"/>
          </a:xfrm>
          <a:prstGeom prst="roundRect">
            <a:avLst>
              <a:gd fmla="val 16667" name="adj"/>
            </a:avLst>
          </a:prstGeom>
          <a:solidFill>
            <a:srgbClr val="D2DD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geometry2d</a:t>
            </a:r>
            <a:endParaRPr/>
          </a:p>
        </p:txBody>
      </p:sp>
      <p:sp>
        <p:nvSpPr>
          <p:cNvPr id="48" name="Google Shape;48;p9"/>
          <p:cNvSpPr/>
          <p:nvPr/>
        </p:nvSpPr>
        <p:spPr>
          <a:xfrm>
            <a:off x="1745725" y="2801925"/>
            <a:ext cx="5212800" cy="477900"/>
          </a:xfrm>
          <a:prstGeom prst="roundRect">
            <a:avLst>
              <a:gd fmla="val 16667" name="adj"/>
            </a:avLst>
          </a:prstGeom>
          <a:solidFill>
            <a:srgbClr val="D2DD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polygon</a:t>
            </a:r>
            <a:endParaRPr/>
          </a:p>
        </p:txBody>
      </p:sp>
      <p:sp>
        <p:nvSpPr>
          <p:cNvPr id="49" name="Google Shape;49;p9"/>
          <p:cNvSpPr/>
          <p:nvPr/>
        </p:nvSpPr>
        <p:spPr>
          <a:xfrm>
            <a:off x="4242175" y="1479600"/>
            <a:ext cx="219900" cy="307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9"/>
          <p:cNvSpPr/>
          <p:nvPr/>
        </p:nvSpPr>
        <p:spPr>
          <a:xfrm>
            <a:off x="4242175" y="2417850"/>
            <a:ext cx="219900" cy="307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9"/>
          <p:cNvSpPr/>
          <p:nvPr/>
        </p:nvSpPr>
        <p:spPr>
          <a:xfrm>
            <a:off x="4242175" y="3356100"/>
            <a:ext cx="219900" cy="307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type="title"/>
          </p:nvPr>
        </p:nvSpPr>
        <p:spPr>
          <a:xfrm>
            <a:off x="457200" y="83225"/>
            <a:ext cx="8229600" cy="51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Módulo general</a:t>
            </a:r>
            <a:endParaRPr/>
          </a:p>
        </p:txBody>
      </p:sp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457200" y="750235"/>
            <a:ext cx="8229600" cy="393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Tipos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/>
              <a:t>Ponto e Segmento</a:t>
            </a:r>
            <a:endParaRPr/>
          </a:p>
          <a:p>
            <a:pPr indent="0" lvl="0" marL="9144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pt-BR"/>
              <a:t> </a:t>
            </a:r>
            <a:endParaRPr/>
          </a:p>
          <a:p>
            <a:pPr indent="0" lvl="0" marL="9144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pt-BR"/>
              <a:t> </a:t>
            </a:r>
            <a:endParaRPr/>
          </a:p>
          <a:p>
            <a:pPr indent="0" lvl="0" marL="9144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pt-BR"/>
              <a:t> </a:t>
            </a:r>
            <a:endParaRPr/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 Funções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/>
              <a:t>create_point</a:t>
            </a:r>
            <a:r>
              <a:rPr lang="pt-BR"/>
              <a:t>()  e create_segment() : criação de pontos e segmentos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Constante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/>
              <a:t>GEOM_EPS = 1e-6 : tolerância numérica para pontos flutuantes</a:t>
            </a:r>
            <a:endParaRPr/>
          </a:p>
          <a:p>
            <a:pPr indent="0" lvl="0" marL="9144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pt-BR"/>
              <a:t>					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pt-BR"/>
              <a:t>	</a:t>
            </a:r>
            <a:endParaRPr/>
          </a:p>
        </p:txBody>
      </p:sp>
      <p:pic>
        <p:nvPicPr>
          <p:cNvPr id="58" name="Google Shape;5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1788" y="1614713"/>
            <a:ext cx="1971675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97663" y="1624238"/>
            <a:ext cx="2257425" cy="132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/>
          <p:nvPr>
            <p:ph type="title"/>
          </p:nvPr>
        </p:nvSpPr>
        <p:spPr>
          <a:xfrm>
            <a:off x="457200" y="83225"/>
            <a:ext cx="8229600" cy="51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Módulo geometry2d</a:t>
            </a:r>
            <a:endParaRPr/>
          </a:p>
        </p:txBody>
      </p:sp>
      <p:sp>
        <p:nvSpPr>
          <p:cNvPr id="65" name="Google Shape;65;p11"/>
          <p:cNvSpPr txBox="1"/>
          <p:nvPr>
            <p:ph idx="1" type="body"/>
          </p:nvPr>
        </p:nvSpPr>
        <p:spPr>
          <a:xfrm>
            <a:off x="457200" y="750224"/>
            <a:ext cx="8229600" cy="4137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Funções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/>
              <a:t>point_on_segment() : determina se segmento contém um ponto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/>
              <a:t>point_distance() e point_line_distance() : distâncias 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/>
              <a:t>line_intersection() </a:t>
            </a:r>
            <a:r>
              <a:rPr lang="pt-BR"/>
              <a:t>: interseção de retas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/>
              <a:t>lines_position() : </a:t>
            </a:r>
            <a:r>
              <a:rPr lang="pt-BR"/>
              <a:t>posição relativa </a:t>
            </a:r>
            <a:r>
              <a:rPr lang="pt-BR"/>
              <a:t>entre retas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Constantes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/>
              <a:t>PARALELOS = 0, PERPENDICULARES = 1, CONCORRENTES = 2, INV</a:t>
            </a:r>
            <a:r>
              <a:rPr lang="pt-BR"/>
              <a:t>ÁLIDO = -1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/>
          <p:nvPr>
            <p:ph type="title"/>
          </p:nvPr>
        </p:nvSpPr>
        <p:spPr>
          <a:xfrm>
            <a:off x="457200" y="83225"/>
            <a:ext cx="8229600" cy="51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Módulo polygon</a:t>
            </a:r>
            <a:endParaRPr/>
          </a:p>
        </p:txBody>
      </p:sp>
      <p:sp>
        <p:nvSpPr>
          <p:cNvPr id="71" name="Google Shape;71;p12"/>
          <p:cNvSpPr txBox="1"/>
          <p:nvPr>
            <p:ph idx="1" type="body"/>
          </p:nvPr>
        </p:nvSpPr>
        <p:spPr>
          <a:xfrm>
            <a:off x="457200" y="750235"/>
            <a:ext cx="8229600" cy="3914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Estrutura</a:t>
            </a:r>
            <a:endParaRPr/>
          </a:p>
          <a:p>
            <a:pPr indent="0" lvl="0" marL="9144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pt-BR"/>
              <a:t>Poligono</a:t>
            </a:r>
            <a:endParaRPr/>
          </a:p>
          <a:p>
            <a:pPr indent="0" lvl="0" marL="9144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pt-BR"/>
              <a:t> </a:t>
            </a:r>
            <a:endParaRPr/>
          </a:p>
          <a:p>
            <a:pPr indent="0" lvl="0" marL="9144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pt-BR"/>
              <a:t> </a:t>
            </a:r>
            <a:endParaRPr/>
          </a:p>
          <a:p>
            <a:pPr indent="0" lvl="0" marL="9144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pt-BR"/>
              <a:t> </a:t>
            </a:r>
            <a:endParaRPr/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Funções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/>
              <a:t>create_polygon() e free_polygon() : criação e liberação de polígonos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/>
              <a:t>signed_area() e polygon_area() : cálculo da área a partir da fórmula de Gauss</a:t>
            </a:r>
            <a:endParaRPr/>
          </a:p>
          <a:p>
            <a:pPr indent="0" lvl="0" marL="9144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" name="Google Shape;72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6575" y="1659566"/>
            <a:ext cx="2200275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/>
          <p:nvPr>
            <p:ph idx="1" type="body"/>
          </p:nvPr>
        </p:nvSpPr>
        <p:spPr>
          <a:xfrm>
            <a:off x="457200" y="675741"/>
            <a:ext cx="8229600" cy="189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1" marL="914400" rtl="0" algn="l">
              <a:spcBef>
                <a:spcPts val="360"/>
              </a:spcBef>
              <a:spcAft>
                <a:spcPts val="0"/>
              </a:spcAft>
              <a:buSzPts val="1800"/>
              <a:buChar char="○"/>
            </a:pPr>
            <a:r>
              <a:rPr lang="pt-BR"/>
              <a:t>polygon_perimeter() : perímetro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/>
              <a:t>polygon_centroid() : centroide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/>
              <a:t>is_convex() : determina convexidade do polígono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/>
              <a:t>polygon_contains_point() : determina se polígono contém um ponto</a:t>
            </a:r>
            <a:endParaRPr/>
          </a:p>
        </p:txBody>
      </p:sp>
      <p:sp>
        <p:nvSpPr>
          <p:cNvPr id="78" name="Google Shape;78;p13"/>
          <p:cNvSpPr txBox="1"/>
          <p:nvPr>
            <p:ph type="title"/>
          </p:nvPr>
        </p:nvSpPr>
        <p:spPr>
          <a:xfrm>
            <a:off x="457200" y="83225"/>
            <a:ext cx="8229600" cy="51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Módulo polygon</a:t>
            </a:r>
            <a:endParaRPr/>
          </a:p>
        </p:txBody>
      </p:sp>
      <p:pic>
        <p:nvPicPr>
          <p:cNvPr id="79" name="Google Shape;7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0200" y="2452916"/>
            <a:ext cx="5943600" cy="22193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3"/>
          <p:cNvSpPr txBox="1"/>
          <p:nvPr/>
        </p:nvSpPr>
        <p:spPr>
          <a:xfrm>
            <a:off x="3192300" y="4505250"/>
            <a:ext cx="27594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Figura 1</a:t>
            </a:r>
            <a:endParaRPr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 txBox="1"/>
          <p:nvPr>
            <p:ph type="title"/>
          </p:nvPr>
        </p:nvSpPr>
        <p:spPr>
          <a:xfrm>
            <a:off x="457200" y="83225"/>
            <a:ext cx="8229600" cy="51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Módulo convex_hull</a:t>
            </a:r>
            <a:endParaRPr/>
          </a:p>
        </p:txBody>
      </p:sp>
      <p:sp>
        <p:nvSpPr>
          <p:cNvPr id="86" name="Google Shape;86;p14"/>
          <p:cNvSpPr txBox="1"/>
          <p:nvPr>
            <p:ph idx="1" type="body"/>
          </p:nvPr>
        </p:nvSpPr>
        <p:spPr>
          <a:xfrm>
            <a:off x="457200" y="750234"/>
            <a:ext cx="8229600" cy="3848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Fecho convexo: menor polígono convexo que contém nuvem de pontos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Funções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/>
              <a:t>convex_hull_graham() : fecho convexo pelo algoritmo Graham Scan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/>
              <a:t>convex_hull_jarvis() : fecho convexo pelo algoritmo de Jarvis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/>
              <a:t> convex_hull_area(), convex_hull_perimeter e convex_hull_diameter()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4"/>
          <p:cNvPicPr preferRelativeResize="0"/>
          <p:nvPr/>
        </p:nvPicPr>
        <p:blipFill rotWithShape="1">
          <a:blip r:embed="rId3">
            <a:alphaModFix/>
          </a:blip>
          <a:srcRect b="9000" l="0" r="0" t="0"/>
          <a:stretch/>
        </p:blipFill>
        <p:spPr>
          <a:xfrm>
            <a:off x="3006600" y="3033525"/>
            <a:ext cx="3440293" cy="15654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4"/>
          <p:cNvSpPr txBox="1"/>
          <p:nvPr/>
        </p:nvSpPr>
        <p:spPr>
          <a:xfrm>
            <a:off x="2566450" y="4265400"/>
            <a:ext cx="432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Figura 2</a:t>
            </a:r>
            <a:endParaRPr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title"/>
          </p:nvPr>
        </p:nvSpPr>
        <p:spPr>
          <a:xfrm>
            <a:off x="457200" y="83225"/>
            <a:ext cx="8229600" cy="51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Módulo convex_hull : Graham vs Jarvis</a:t>
            </a:r>
            <a:endParaRPr/>
          </a:p>
        </p:txBody>
      </p:sp>
      <p:sp>
        <p:nvSpPr>
          <p:cNvPr id="94" name="Google Shape;94;p15"/>
          <p:cNvSpPr txBox="1"/>
          <p:nvPr>
            <p:ph idx="1" type="body"/>
          </p:nvPr>
        </p:nvSpPr>
        <p:spPr>
          <a:xfrm>
            <a:off x="457200" y="750225"/>
            <a:ext cx="4032900" cy="189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Graham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/>
              <a:t>O(n</a:t>
            </a:r>
            <a:r>
              <a:rPr lang="pt-BR"/>
              <a:t> </a:t>
            </a:r>
            <a:r>
              <a:rPr lang="pt-BR"/>
              <a:t>log</a:t>
            </a:r>
            <a:r>
              <a:rPr lang="pt-BR"/>
              <a:t> </a:t>
            </a:r>
            <a:r>
              <a:rPr lang="pt-BR"/>
              <a:t>n)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/>
              <a:t>ordena os pontos e usa uma pilha para contruir o fecho</a:t>
            </a:r>
            <a:endParaRPr/>
          </a:p>
        </p:txBody>
      </p:sp>
      <p:sp>
        <p:nvSpPr>
          <p:cNvPr id="95" name="Google Shape;95;p15"/>
          <p:cNvSpPr txBox="1"/>
          <p:nvPr>
            <p:ph idx="1" type="body"/>
          </p:nvPr>
        </p:nvSpPr>
        <p:spPr>
          <a:xfrm>
            <a:off x="4653900" y="750225"/>
            <a:ext cx="4032900" cy="189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Jarvis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/>
              <a:t>O(nm)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/>
              <a:t>seleciona sucessivamente os vértices da borda</a:t>
            </a:r>
            <a:endParaRPr/>
          </a:p>
        </p:txBody>
      </p:sp>
      <p:pic>
        <p:nvPicPr>
          <p:cNvPr id="96" name="Google Shape;96;p15"/>
          <p:cNvPicPr preferRelativeResize="0"/>
          <p:nvPr/>
        </p:nvPicPr>
        <p:blipFill rotWithShape="1">
          <a:blip r:embed="rId3">
            <a:alphaModFix/>
          </a:blip>
          <a:srcRect b="22671" l="6089" r="4634" t="6767"/>
          <a:stretch/>
        </p:blipFill>
        <p:spPr>
          <a:xfrm>
            <a:off x="4706925" y="2646225"/>
            <a:ext cx="4149650" cy="16399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5"/>
          <p:cNvSpPr txBox="1"/>
          <p:nvPr/>
        </p:nvSpPr>
        <p:spPr>
          <a:xfrm>
            <a:off x="457188" y="4292650"/>
            <a:ext cx="432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Figura 3</a:t>
            </a:r>
            <a:endParaRPr sz="1200"/>
          </a:p>
        </p:txBody>
      </p:sp>
      <p:sp>
        <p:nvSpPr>
          <p:cNvPr id="98" name="Google Shape;98;p15"/>
          <p:cNvSpPr txBox="1"/>
          <p:nvPr/>
        </p:nvSpPr>
        <p:spPr>
          <a:xfrm>
            <a:off x="4621438" y="4292650"/>
            <a:ext cx="432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Figura 4</a:t>
            </a:r>
            <a:endParaRPr sz="1200"/>
          </a:p>
        </p:txBody>
      </p:sp>
      <p:pic>
        <p:nvPicPr>
          <p:cNvPr id="99" name="Google Shape;9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0450" y="2383700"/>
            <a:ext cx="2426400" cy="2001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457200" y="83225"/>
            <a:ext cx="8229600" cy="51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Módulo spatial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457200" y="750232"/>
            <a:ext cx="8229600" cy="3305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Funções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/>
              <a:t>closest_pair() : par de pontos mais </a:t>
            </a:r>
            <a:r>
              <a:rPr lang="pt-BR"/>
              <a:t>próximos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/>
              <a:t>intersection_polygon() : pontos de interseção entre dois polígonos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/>
              <a:t>intersection_region() : regiões de interseção entre dois polígonos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/>
              <a:t>is_polygon_inside() : determina se um polígono está totalmente contido em outro</a:t>
            </a:r>
            <a:endParaRPr/>
          </a:p>
        </p:txBody>
      </p:sp>
      <p:pic>
        <p:nvPicPr>
          <p:cNvPr id="106" name="Google Shape;10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3113" y="3063838"/>
            <a:ext cx="2215475" cy="14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6"/>
          <p:cNvPicPr preferRelativeResize="0"/>
          <p:nvPr/>
        </p:nvPicPr>
        <p:blipFill rotWithShape="1">
          <a:blip r:embed="rId4">
            <a:alphaModFix/>
          </a:blip>
          <a:srcRect b="9455" l="3910" r="-3910" t="9455"/>
          <a:stretch/>
        </p:blipFill>
        <p:spPr>
          <a:xfrm>
            <a:off x="1874900" y="3285812"/>
            <a:ext cx="1499675" cy="121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6"/>
          <p:cNvSpPr txBox="1"/>
          <p:nvPr/>
        </p:nvSpPr>
        <p:spPr>
          <a:xfrm>
            <a:off x="891025" y="4501925"/>
            <a:ext cx="346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Figura 5</a:t>
            </a:r>
            <a:endParaRPr sz="1200"/>
          </a:p>
        </p:txBody>
      </p:sp>
      <p:sp>
        <p:nvSpPr>
          <p:cNvPr id="109" name="Google Shape;109;p16"/>
          <p:cNvSpPr txBox="1"/>
          <p:nvPr/>
        </p:nvSpPr>
        <p:spPr>
          <a:xfrm>
            <a:off x="4167150" y="4501925"/>
            <a:ext cx="346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Figura 6</a:t>
            </a:r>
            <a:endParaRPr sz="1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title"/>
          </p:nvPr>
        </p:nvSpPr>
        <p:spPr>
          <a:xfrm>
            <a:off x="457200" y="83225"/>
            <a:ext cx="8229600" cy="51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Makefile</a:t>
            </a:r>
            <a:endParaRPr/>
          </a:p>
        </p:txBody>
      </p:sp>
      <p:sp>
        <p:nvSpPr>
          <p:cNvPr id="115" name="Google Shape;115;p17"/>
          <p:cNvSpPr txBox="1"/>
          <p:nvPr>
            <p:ph idx="1" type="body"/>
          </p:nvPr>
        </p:nvSpPr>
        <p:spPr>
          <a:xfrm>
            <a:off x="457200" y="750234"/>
            <a:ext cx="8229600" cy="3804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Automatiza compilaç</a:t>
            </a:r>
            <a:r>
              <a:rPr lang="pt-BR"/>
              <a:t>ão, respeitando a dependência dos módulos e evitando recompilação desnecessária.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Realiza os testes, retornando os resultados.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Instala os recursos da biblioteca.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Executa a aplicaç</a:t>
            </a:r>
            <a:r>
              <a:rPr lang="pt-BR"/>
              <a:t>ão cliente.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Limpa os artefatos gerados na compilação e na execução.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457200" y="83225"/>
            <a:ext cx="8229600" cy="51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Aplicação (exemplo)</a:t>
            </a:r>
            <a:endParaRPr/>
          </a:p>
        </p:txBody>
      </p:sp>
      <p:sp>
        <p:nvSpPr>
          <p:cNvPr id="121" name="Google Shape;121;p18"/>
          <p:cNvSpPr txBox="1"/>
          <p:nvPr>
            <p:ph idx="1" type="body"/>
          </p:nvPr>
        </p:nvSpPr>
        <p:spPr>
          <a:xfrm>
            <a:off x="457200" y="750216"/>
            <a:ext cx="8229600" cy="189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Demonstraç</a:t>
            </a:r>
            <a:r>
              <a:rPr lang="pt-BR"/>
              <a:t>ão</a:t>
            </a:r>
            <a:r>
              <a:rPr lang="pt-BR"/>
              <a:t> das funções de cada módulo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Representação gráfica em SVG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Resultado:</a:t>
            </a:r>
            <a:endParaRPr/>
          </a:p>
        </p:txBody>
      </p:sp>
      <p:pic>
        <p:nvPicPr>
          <p:cNvPr id="122" name="Google Shape;12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150" y="2063016"/>
            <a:ext cx="7673694" cy="21924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title"/>
          </p:nvPr>
        </p:nvSpPr>
        <p:spPr>
          <a:xfrm>
            <a:off x="457200" y="83225"/>
            <a:ext cx="8229600" cy="51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Testes</a:t>
            </a:r>
            <a:endParaRPr/>
          </a:p>
        </p:txBody>
      </p:sp>
      <p:sp>
        <p:nvSpPr>
          <p:cNvPr id="128" name="Google Shape;128;p19"/>
          <p:cNvSpPr txBox="1"/>
          <p:nvPr>
            <p:ph idx="1" type="body"/>
          </p:nvPr>
        </p:nvSpPr>
        <p:spPr>
          <a:xfrm>
            <a:off x="457200" y="750216"/>
            <a:ext cx="8229600" cy="189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Organizados por módulo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Casos normais, casos de borda e de entradas inválidas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Tolerância de GEOM_EPS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make test</a:t>
            </a:r>
            <a:endParaRPr/>
          </a:p>
        </p:txBody>
      </p:sp>
      <p:pic>
        <p:nvPicPr>
          <p:cNvPr id="129" name="Google Shape;12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8650" y="2414210"/>
            <a:ext cx="2960424" cy="247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>
            <p:ph type="title"/>
          </p:nvPr>
        </p:nvSpPr>
        <p:spPr>
          <a:xfrm>
            <a:off x="457200" y="83225"/>
            <a:ext cx="8229600" cy="51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Conclusão</a:t>
            </a:r>
            <a:endParaRPr/>
          </a:p>
        </p:txBody>
      </p:sp>
      <p:sp>
        <p:nvSpPr>
          <p:cNvPr id="135" name="Google Shape;135;p20"/>
          <p:cNvSpPr txBox="1"/>
          <p:nvPr>
            <p:ph idx="1" type="body"/>
          </p:nvPr>
        </p:nvSpPr>
        <p:spPr>
          <a:xfrm>
            <a:off x="457200" y="750225"/>
            <a:ext cx="8357100" cy="189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Desenvolvemos uma biblioteca modular de geometria computacional em C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Integramos algoritmos, testes automatizados e uma aplicação cliente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Aplicamos princípios de modularização, reutilização e automação de build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>
            <p:ph type="title"/>
          </p:nvPr>
        </p:nvSpPr>
        <p:spPr>
          <a:xfrm>
            <a:off x="457200" y="83225"/>
            <a:ext cx="8229600" cy="51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Bibliografia</a:t>
            </a:r>
            <a:endParaRPr/>
          </a:p>
        </p:txBody>
      </p:sp>
      <p:sp>
        <p:nvSpPr>
          <p:cNvPr id="141" name="Google Shape;141;p21"/>
          <p:cNvSpPr txBox="1"/>
          <p:nvPr>
            <p:ph idx="1" type="body"/>
          </p:nvPr>
        </p:nvSpPr>
        <p:spPr>
          <a:xfrm>
            <a:off x="457200" y="703650"/>
            <a:ext cx="8229600" cy="3736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/>
              <a:t>Figura 1: </a:t>
            </a:r>
            <a:r>
              <a:rPr lang="pt-BR" sz="1200" u="sng">
                <a:solidFill>
                  <a:schemeClr val="hlink"/>
                </a:solidFill>
                <a:hlinkClick r:id="rId3"/>
              </a:rPr>
              <a:t>www.langfordmath.com/ECEMath/Geometry/Polygons.jpg</a:t>
            </a:r>
            <a:endParaRPr sz="12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/>
              <a:t>Figura 2</a:t>
            </a:r>
            <a:r>
              <a:rPr lang="pt-BR" sz="1200"/>
              <a:t> e 4: </a:t>
            </a:r>
            <a:r>
              <a:rPr lang="pt-BR" sz="1200" u="sng">
                <a:solidFill>
                  <a:schemeClr val="hlink"/>
                </a:solidFill>
                <a:hlinkClick r:id="rId4"/>
              </a:rPr>
              <a:t>www.geeksforgeeks.org/dsa/convex-hull-using-jarvis-algorithm-or-wrapping</a:t>
            </a:r>
            <a:endParaRPr sz="12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/>
              <a:t>Figura 3: </a:t>
            </a:r>
            <a:r>
              <a:rPr lang="pt-BR" sz="1200" u="sng">
                <a:solidFill>
                  <a:schemeClr val="hlink"/>
                </a:solidFill>
                <a:hlinkClick r:id="rId5"/>
              </a:rPr>
              <a:t>www.dinocajic.com/grahams-scan-visually-explained</a:t>
            </a:r>
            <a:endParaRPr sz="12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/>
              <a:t>Figura 5: </a:t>
            </a:r>
            <a:r>
              <a:rPr lang="pt-BR" sz="1200" u="sng">
                <a:solidFill>
                  <a:schemeClr val="hlink"/>
                </a:solidFill>
                <a:hlinkClick r:id="rId6"/>
              </a:rPr>
              <a:t>en.wikipedia.org/wiki/Closest_pair_of_points_problem</a:t>
            </a:r>
            <a:endParaRPr sz="12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pt-BR" sz="1200"/>
              <a:t>Figura 6: autowarefoundation.gitlab.io/autoware.auto/AutowareAuto/convex-polygon-intersection-2d.html</a:t>
            </a:r>
            <a:endParaRPr sz="12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>
            <p:ph type="title"/>
          </p:nvPr>
        </p:nvSpPr>
        <p:spPr>
          <a:xfrm>
            <a:off x="457200" y="83225"/>
            <a:ext cx="8229600" cy="51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Obrigado!</a:t>
            </a:r>
            <a:endParaRPr/>
          </a:p>
        </p:txBody>
      </p:sp>
      <p:pic>
        <p:nvPicPr>
          <p:cNvPr id="147" name="Google Shape;14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7700" y="1019950"/>
            <a:ext cx="2673936" cy="328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ME-USP">
  <a:themeElements>
    <a:clrScheme name="IFUSP 3">
      <a:dk1>
        <a:srgbClr val="112A3D"/>
      </a:dk1>
      <a:lt1>
        <a:srgbClr val="FFFFFF"/>
      </a:lt1>
      <a:dk2>
        <a:srgbClr val="205C76"/>
      </a:dk2>
      <a:lt2>
        <a:srgbClr val="D1D0C1"/>
      </a:lt2>
      <a:accent1>
        <a:srgbClr val="EDB1C4"/>
      </a:accent1>
      <a:accent2>
        <a:srgbClr val="71BCBD"/>
      </a:accent2>
      <a:accent3>
        <a:srgbClr val="EADA59"/>
      </a:accent3>
      <a:accent4>
        <a:srgbClr val="AA4A83"/>
      </a:accent4>
      <a:accent5>
        <a:srgbClr val="927130"/>
      </a:accent5>
      <a:accent6>
        <a:srgbClr val="D23F3E"/>
      </a:accent6>
      <a:hlink>
        <a:srgbClr val="3C3C3B"/>
      </a:hlink>
      <a:folHlink>
        <a:srgbClr val="27272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